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5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93C5FD"/>
                </a:solidFill>
                <a:latin typeface="Segoe UI"/>
              </a:defRPr>
            </a:pPr>
            <a:r>
              <a:t>ENTERPRISE TECHNICAL ARCHITECTURE &amp; PLATFORM OVERVIEW</a:t>
            </a:r>
          </a:p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NPCI Forum AI Platform</a:t>
            </a:r>
          </a:p>
          <a:p>
            <a:pPr>
              <a:spcAft>
                <a:spcPts val="2400"/>
              </a:spcAft>
              <a:defRPr sz="1600">
                <a:solidFill>
                  <a:srgbClr val="E2E8F0"/>
                </a:solidFill>
                <a:latin typeface="Segoe UI"/>
              </a:defRPr>
            </a:pPr>
            <a:r>
              <a:t>Next-Generation Payment Collaboration, Automated Regulatory Compliance Governance &amp; Model Context Protocol (MCP) AI Architecture</a:t>
            </a:r>
          </a:p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AWS Dual-EC2 Compute • Terraform IaC • GitHub Actions CI/CD • K3s Kubernetes • Qdrant Vector DB • Prometheus &amp;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B57D0"/>
                </a:solidFill>
                <a:latin typeface="Segoe UI"/>
              </a:defRPr>
            </a:pPr>
            <a:r>
              <a:t>PROJECT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Executive Summary &amp; Core Platform Vision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5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B57D0"/>
                </a:solidFill>
                <a:latin typeface="Segoe UI"/>
              </a:defRPr>
            </a:pPr>
            <a:r>
              <a:t>Unified Operations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Payment Forums: </a:t>
            </a:r>
            <a:r>
              <a:rPr>
                <a:solidFill>
                  <a:srgbClr val="0F172A"/>
                </a:solidFill>
              </a:rPr>
              <a:t>Dedicated channels for UPI 2.0, RuPay Technical Specs, and Regulatory Circulars.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Direct Messaging: </a:t>
            </a:r>
            <a:r>
              <a:rPr>
                <a:solidFill>
                  <a:srgbClr val="0F172A"/>
                </a:solidFill>
              </a:rPr>
              <a:t>Real-time user-to-user and group chat with WebSocket event delivery.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Policy Governance: </a:t>
            </a:r>
            <a:r>
              <a:rPr>
                <a:solidFill>
                  <a:srgbClr val="0F172A"/>
                </a:solidFill>
              </a:rPr>
              <a:t>Document repository with FIPS 140-3 compliance checks and built-in PDF viewer.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2918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60020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AI &amp; MCP Integration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MCP AI Architecture: </a:t>
            </a:r>
            <a:r>
              <a:rPr>
                <a:solidFill>
                  <a:srgbClr val="0F172A"/>
                </a:solidFill>
              </a:rPr>
              <a:t>Standardized tool access (search_policies, query_vector_db, read_postgres_data).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Vector Search &amp; RAG: </a:t>
            </a:r>
            <a:r>
              <a:rPr>
                <a:solidFill>
                  <a:srgbClr val="0F172A"/>
                </a:solidFill>
              </a:rPr>
              <a:t>High-precision similarity lookup on Qdrant Vector DB embeddings.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Token &amp; Cost Telemetry: </a:t>
            </a:r>
            <a:r>
              <a:rPr>
                <a:solidFill>
                  <a:srgbClr val="0F172A"/>
                </a:solidFill>
              </a:rPr>
              <a:t>Real-time estimated USD cost tracking per AI transaction exported to Prometheus.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2918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60020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Automated Cloud Stack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AWS Dual EC2 Topology: </a:t>
            </a:r>
            <a:r>
              <a:rPr>
                <a:solidFill>
                  <a:srgbClr val="0F172A"/>
                </a:solidFill>
              </a:rPr>
              <a:t>Separates application compute (EC2 Node 1) from monitoring &amp; vector compute (EC2 Node 2).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Terraform &amp; S3: </a:t>
            </a:r>
            <a:r>
              <a:rPr>
                <a:solidFill>
                  <a:srgbClr val="0F172A"/>
                </a:solidFill>
              </a:rPr>
              <a:t>100% reproducible Infrastructure as Code with remote S3 state locks.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10-Stage CI/CD Pipeline: </a:t>
            </a:r>
            <a:r>
              <a:rPr>
                <a:solidFill>
                  <a:srgbClr val="0F172A"/>
                </a:solidFill>
              </a:rPr>
              <a:t>Automated deployment &amp; power-saving shutdown workflows in GitHub Actions.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B57D0"/>
                </a:solidFill>
                <a:latin typeface="Segoe UI"/>
              </a:defRPr>
            </a:pPr>
            <a:r>
              <a:t>VISUAL TOPOLOGY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End-to-End High-Availability System Architecture</a:t>
            </a:r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B57D0"/>
                </a:solidFill>
                <a:latin typeface="Segoe UI"/>
              </a:defRPr>
            </a:pPr>
            <a:r>
              <a:t>INFRASTRUCTURE AS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AWS Dual-EC2 Compute &amp; Terraform IaC Automation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5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B57D0"/>
                </a:solidFill>
                <a:latin typeface="Segoe UI"/>
              </a:defRPr>
            </a:pPr>
            <a:r>
              <a:t>AWS Cloud Network &amp; Compute Topology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VPC Configuration: </a:t>
            </a:r>
            <a:r>
              <a:rPr>
                <a:solidFill>
                  <a:srgbClr val="0F172A"/>
                </a:solidFill>
              </a:rPr>
              <a:t>npci-forum-vpc (CIDR 10.0.0.0/16) with dedicated Internet Gateway and Public Subnet.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EC2 Node 1 (App Node): </a:t>
            </a:r>
            <a:r>
              <a:rPr>
                <a:solidFill>
                  <a:srgbClr val="0F172A"/>
                </a:solidFill>
              </a:rPr>
              <a:t>Hosts Node.js Web App, Python FastAPI Backend, PostgreSQL DB &amp; K3s Kubernetes.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EC2 Node 2 (Vector/Mon Node): </a:t>
            </a:r>
            <a:r>
              <a:rPr>
                <a:solidFill>
                  <a:srgbClr val="0F172A"/>
                </a:solidFill>
              </a:rPr>
              <a:t>Hosts Qdrant Vector DB, MCP Server, Prometheus Collector &amp; Grafana UI.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EBS Storage Volume: </a:t>
            </a:r>
            <a:r>
              <a:rPr>
                <a:solidFill>
                  <a:srgbClr val="0F172A"/>
                </a:solidFill>
              </a:rPr>
              <a:t>10GB gp3 EBS Volume mounted at /data/db for PostgreSQL persistence.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2GB Swap Allocation: </a:t>
            </a:r>
            <a:r>
              <a:rPr>
                <a:solidFill>
                  <a:srgbClr val="0F172A"/>
                </a:solidFill>
              </a:rPr>
              <a:t>Engineered swap memory files on both nodes preventing 97% RAM exhaustion slowdowns.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Static Elastic IPs: </a:t>
            </a:r>
            <a:r>
              <a:rPr>
                <a:solidFill>
                  <a:srgbClr val="0F172A"/>
                </a:solidFill>
              </a:rPr>
              <a:t>Persistent EIP associations guaranteeing static IP resolution across automated power reboots.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97316"/>
                </a:solidFill>
                <a:latin typeface="Segoe UI"/>
              </a:defRPr>
            </a:pPr>
            <a:r>
              <a:t>Terraform IaC &amp; Dynamic Provisioning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Remote State Management: </a:t>
            </a:r>
            <a:r>
              <a:rPr>
                <a:solidFill>
                  <a:srgbClr val="0F172A"/>
                </a:solidFill>
              </a:rPr>
              <a:t>S3 backend (npci-forum-tfstate-ap-south-2) preventing concurrency conflicts.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Dynamic AZ &amp; AMI Lookup: </a:t>
            </a:r>
            <a:r>
              <a:rPr>
                <a:solidFill>
                  <a:srgbClr val="0F172A"/>
                </a:solidFill>
              </a:rPr>
              <a:t>Automatically resolves available AWS zones and latest Ubuntu 22.04 LTS images.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Automated Key Pair Generation: </a:t>
            </a:r>
            <a:r>
              <a:rPr>
                <a:solidFill>
                  <a:srgbClr val="0F172A"/>
                </a:solidFill>
              </a:rPr>
              <a:t>Generates RSA-4096 SSH key pairs dynamically (no manual SSH keys in secrets).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Security Group Ingress Rules: </a:t>
            </a:r>
            <a:r>
              <a:rPr>
                <a:solidFill>
                  <a:srgbClr val="0F172A"/>
                </a:solidFill>
              </a:rPr>
              <a:t>Enforces granular port access for Web (80/3000), Grafana (3001), API (8000), MCP (8001), DB (5432), Vector DB (6333), Prometheus (9090).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AWS S3 Website Bucket: </a:t>
            </a:r>
            <a:r>
              <a:rPr>
                <a:solidFill>
                  <a:srgbClr val="0F172A"/>
                </a:solidFill>
              </a:rPr>
              <a:t>Dynamically provisions S3 bucket with random suffix and public website hosting rules.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B57D0"/>
                </a:solidFill>
                <a:latin typeface="Segoe UI"/>
              </a:defRPr>
            </a:pPr>
            <a:r>
              <a:t>DEVELOPER INPUTS &amp; FIXES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Technical Solutions &amp; Regulatory Compliance (Google Doc Inputs)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  <a:latin typeface="Segoe UI"/>
              </a:defRPr>
            </a:pPr>
            <a:r>
              <a:t>CORS Error Diagnostics &amp; Production Resolution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Local Origin Mismatch: </a:t>
            </a:r>
            <a:r>
              <a:rPr>
                <a:solidFill>
                  <a:srgbClr val="0F172A"/>
                </a:solidFill>
              </a:rPr>
              <a:t>Local dev calls blocked from Port 3013 to Port 8004 with CORS ERR_FAILED 500.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FastAPI CORSMiddleware: </a:t>
            </a:r>
            <a:r>
              <a:rPr>
                <a:solidFill>
                  <a:srgbClr val="0F172A"/>
                </a:solidFill>
              </a:rPr>
              <a:t>Configured wildcard CORS headers (allow_origins=['*'], allow_methods=['*']) in main.py.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Docker Network Bridge: </a:t>
            </a:r>
            <a:r>
              <a:rPr>
                <a:solidFill>
                  <a:srgbClr val="0F172A"/>
                </a:solidFill>
              </a:rPr>
              <a:t>Unified Web App (Port 3000) and Backend Engine (Port 8000) inside Docker container bridge.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K3s Ingress Proxy: </a:t>
            </a:r>
            <a:r>
              <a:rPr>
                <a:solidFill>
                  <a:srgbClr val="0F172A"/>
                </a:solidFill>
              </a:rPr>
              <a:t>Eliminated origin mismatches entirely via K3s ingress path routing.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NPCI Circulars &amp; Standard References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NPCI Circular #142/2026: </a:t>
            </a:r>
            <a:r>
              <a:rPr>
                <a:solidFill>
                  <a:srgbClr val="0F172A"/>
                </a:solidFill>
              </a:rPr>
              <a:t>Mandatory migration of member bank endpoints to mutual TLS (mTLS) with X.509 certificates.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UPI 2.0 Mandate API Specs: </a:t>
            </a:r>
            <a:r>
              <a:rPr>
                <a:solidFill>
                  <a:srgbClr val="0F172A"/>
                </a:solidFill>
              </a:rPr>
              <a:t>Governs ₹5 Lakh transaction ceiling limit for verified educational &amp; healthcare merchants.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RuPay Contactless (NCMC): </a:t>
            </a:r>
            <a:r>
              <a:rPr>
                <a:solidFill>
                  <a:srgbClr val="0F172A"/>
                </a:solidFill>
              </a:rPr>
              <a:t>EMV offline balance synchronization with RSA-2048 encryption for gate validators.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TPAP Cybersecurity Mandate: </a:t>
            </a:r>
            <a:r>
              <a:rPr>
                <a:solidFill>
                  <a:srgbClr val="0F172A"/>
                </a:solidFill>
              </a:rPr>
              <a:t>FIPS 140-3 validation and payload encryption for compliance documents.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B57D0"/>
                </a:solidFill>
                <a:latin typeface="Segoe UI"/>
              </a:defRPr>
            </a:pPr>
            <a:r>
              <a:t>CONTINUOUS INTEGRATION &amp;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10-Stage Automated GitHub Actions CI/CD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5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B57D0"/>
                </a:solidFill>
                <a:latin typeface="Segoe UI"/>
              </a:defRPr>
            </a:pPr>
            <a:r>
              <a:t>Automated Single-Click Pipeline Breakdown (.github/workflows/deploy.yml)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1. Infra Up (Terraform): </a:t>
            </a:r>
            <a:r>
              <a:rPr>
                <a:solidFill>
                  <a:srgbClr val="0F172A"/>
                </a:solidFill>
              </a:rPr>
              <a:t>Initializes Terraform, provisions AWS VPC, 2x EC2 nodes, S3 bucket, and outputs dynamic SSH keys.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2. Build &amp; Push Core App: </a:t>
            </a:r>
            <a:r>
              <a:rPr>
                <a:solidFill>
                  <a:srgbClr val="0F172A"/>
                </a:solidFill>
              </a:rPr>
              <a:t>Compiles &amp; pushes Docker Hub images for Node.js Web App and Python FastAPI Backend.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3. Deploy Core App (1st EC2): </a:t>
            </a:r>
            <a:r>
              <a:rPr>
                <a:solidFill>
                  <a:srgbClr val="0F172A"/>
                </a:solidFill>
              </a:rPr>
              <a:t>Connects via SSH, mounts EBS volume /data/db, provisions swap space, and starts Postgres, Backend &amp; App.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4. Monitor Core App Health: </a:t>
            </a:r>
            <a:r>
              <a:rPr>
                <a:solidFill>
                  <a:srgbClr val="0F172A"/>
                </a:solidFill>
              </a:rPr>
              <a:t>Streams live container logs and executes HTTP health checks on ports 3000 and 8000.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5. Build &amp; Push MCP Image: </a:t>
            </a:r>
            <a:r>
              <a:rPr>
                <a:solidFill>
                  <a:srgbClr val="0F172A"/>
                </a:solidFill>
              </a:rPr>
              <a:t>Builds and registers Model Context Protocol (MCP) server container image to Docker Hub.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6. Deploy Vector &amp; Mon (2nd EC2): </a:t>
            </a:r>
            <a:r>
              <a:rPr>
                <a:solidFill>
                  <a:srgbClr val="0F172A"/>
                </a:solidFill>
              </a:rPr>
              <a:t>Deploys Qdrant Vector DB, MCP Server, Prometheus, and Grafana to 2nd EC2 node under npci-net network.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7. Monitor 2nd EC2 Health: </a:t>
            </a:r>
            <a:r>
              <a:rPr>
                <a:solidFill>
                  <a:srgbClr val="0F172A"/>
                </a:solidFill>
              </a:rPr>
              <a:t>Validates MCP, Vector DB, Prometheus, and Grafana endpoint health and streams service logs.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8. Deploy Frontend to S3: </a:t>
            </a:r>
            <a:r>
              <a:rPr>
                <a:solidFill>
                  <a:srgbClr val="0F172A"/>
                </a:solidFill>
              </a:rPr>
              <a:t>Compiles React bundle (npm run build) and synchronizes static assets directly to AWS S3 bucket.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9. Helm &amp; K8s Validation: </a:t>
            </a:r>
            <a:r>
              <a:rPr>
                <a:solidFill>
                  <a:srgbClr val="0F172A"/>
                </a:solidFill>
              </a:rPr>
              <a:t>Executes 'helm lint' and verifies Kubernetes cluster pods, deployments, and HPA status.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10. Monitoring Health Check: </a:t>
            </a:r>
            <a:r>
              <a:rPr>
                <a:solidFill>
                  <a:srgbClr val="0F172A"/>
                </a:solidFill>
              </a:rPr>
              <a:t>Tests Grafana UI (3001) &amp; Prometheus collector (9090), generating GitHub Step Summary 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B57D0"/>
                </a:solidFill>
                <a:latin typeface="Segoe UI"/>
              </a:defRPr>
            </a:pPr>
            <a:r>
              <a:t>CLUSTER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Kubernetes Container Orchestration &amp; Helm Charts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K3s Kubernetes Cluster Architecture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Lightweight K3s Engine: </a:t>
            </a:r>
            <a:r>
              <a:rPr>
                <a:solidFill>
                  <a:srgbClr val="0F172A"/>
                </a:solidFill>
              </a:rPr>
              <a:t>Installed on EC2 Node 1, providing zero-overhead Kubernetes container orchestration.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Automated Kubeconfig Sync: </a:t>
            </a:r>
            <a:r>
              <a:rPr>
                <a:solidFill>
                  <a:srgbClr val="0F172A"/>
                </a:solidFill>
              </a:rPr>
              <a:t>Auto-generates /etc/rancher/k3s/k3s.yaml for seamless kubectl access.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Declarative Helm Releases: </a:t>
            </a:r>
            <a:r>
              <a:rPr>
                <a:solidFill>
                  <a:srgbClr val="0F172A"/>
                </a:solidFill>
              </a:rPr>
              <a:t>Deploys entire microservices stack using Helm template release 'npci-app'.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Self-Healing Pod Lifecycle: </a:t>
            </a:r>
            <a:r>
              <a:rPr>
                <a:solidFill>
                  <a:srgbClr val="0F172A"/>
                </a:solidFill>
              </a:rPr>
              <a:t>Automatic pod restarts upon failure, guaranteeing 99.9% application uptime.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CronJob Log Rotation: </a:t>
            </a:r>
            <a:r>
              <a:rPr>
                <a:solidFill>
                  <a:srgbClr val="0F172A"/>
                </a:solidFill>
              </a:rPr>
              <a:t>Executes cronjob-log-purger.yaml to clear excess log files automatically.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5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B57D0"/>
                </a:solidFill>
                <a:latin typeface="Segoe UI"/>
              </a:defRPr>
            </a:pPr>
            <a:r>
              <a:t>Helm Chart Specifications (helm/app-chart)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deployment-backend.yaml: </a:t>
            </a:r>
            <a:r>
              <a:rPr>
                <a:solidFill>
                  <a:srgbClr val="0F172A"/>
                </a:solidFill>
              </a:rPr>
              <a:t>Manages frontend Node.js web application pod replicas.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deployment-python-backend.yaml: </a:t>
            </a:r>
            <a:r>
              <a:rPr>
                <a:solidFill>
                  <a:srgbClr val="0F172A"/>
                </a:solidFill>
              </a:rPr>
              <a:t>Manages FastAPI AI backend engine pods.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deployment-mcp-servers.yaml: </a:t>
            </a:r>
            <a:r>
              <a:rPr>
                <a:solidFill>
                  <a:srgbClr val="0F172A"/>
                </a:solidFill>
              </a:rPr>
              <a:t>Orchestrates Model Context Protocol tool pods.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deployment-postgres.yaml: </a:t>
            </a:r>
            <a:r>
              <a:rPr>
                <a:solidFill>
                  <a:srgbClr val="0F172A"/>
                </a:solidFill>
              </a:rPr>
              <a:t>StatefulSet database pod with PersistentVolumeClaim.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deployment-vectordb.yaml: </a:t>
            </a:r>
            <a:r>
              <a:rPr>
                <a:solidFill>
                  <a:srgbClr val="0F172A"/>
                </a:solidFill>
              </a:rPr>
              <a:t>Qdrant Vector DB pod with persistent EBS storage mount.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hpa.yaml (Autoscaling): </a:t>
            </a:r>
            <a:r>
              <a:rPr>
                <a:solidFill>
                  <a:srgbClr val="0F172A"/>
                </a:solidFill>
              </a:rPr>
              <a:t>Horizontal Pod Autoscaler scaling pods dynamically based on CPU/RAM thresholds.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B57D0"/>
                </a:solidFill>
                <a:latin typeface="Segoe UI"/>
              </a:defRPr>
            </a:pPr>
            <a:r>
              <a:t>ARTIFICIAL INTELLIGENCE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Model Context Protocol (MCP) &amp; AI Agent Routing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97316"/>
                </a:solidFill>
                <a:latin typeface="Segoe UI"/>
              </a:defRPr>
            </a:pPr>
            <a:r>
              <a:t>MCP Tool Execution Architecture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Protocol Standard: </a:t>
            </a:r>
            <a:r>
              <a:rPr>
                <a:solidFill>
                  <a:srgbClr val="0F172A"/>
                </a:solidFill>
              </a:rPr>
              <a:t>Implements Anthropic's Model Context Protocol (MCP) for structured LLM tool integration.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search_policies: </a:t>
            </a:r>
            <a:r>
              <a:rPr>
                <a:solidFill>
                  <a:srgbClr val="0F172A"/>
                </a:solidFill>
              </a:rPr>
              <a:t>Searches NPCI circulars, procedural guidelines, and payment compliance documents.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query_vector_db: </a:t>
            </a:r>
            <a:r>
              <a:rPr>
                <a:solidFill>
                  <a:srgbClr val="0F172A"/>
                </a:solidFill>
              </a:rPr>
              <a:t>Performs vector similarity search on Qdrant DB embeddings for grounded UPI/RuPay context.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read_postgres_data: </a:t>
            </a:r>
            <a:r>
              <a:rPr>
                <a:solidFill>
                  <a:srgbClr val="0F172A"/>
                </a:solidFill>
              </a:rPr>
              <a:t>Queries persisted PostgreSQL tables (discussions, user complaints, hierarchy).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list_channels: </a:t>
            </a:r>
            <a:r>
              <a:rPr>
                <a:solidFill>
                  <a:srgbClr val="0F172A"/>
                </a:solidFill>
              </a:rPr>
              <a:t>Discovers active discussion channels and community operational metadata.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evaluate_accuracy: </a:t>
            </a:r>
            <a:r>
              <a:rPr>
                <a:solidFill>
                  <a:srgbClr val="0F172A"/>
                </a:solidFill>
              </a:rPr>
              <a:t>Calculates accuracy scores, hallucination index, and policy compliance verification.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Agent Coordination &amp; Token Cost Telemetry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Intelligent Router: </a:t>
            </a:r>
            <a:r>
              <a:rPr>
                <a:solidFill>
                  <a:srgbClr val="0F172A"/>
                </a:solidFill>
              </a:rPr>
              <a:t>Directs queries dynamically between PolicyRAGAgent and GeneralForumAgent.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Observability Traces: </a:t>
            </a:r>
            <a:r>
              <a:rPr>
                <a:solidFill>
                  <a:srgbClr val="0F172A"/>
                </a:solidFill>
              </a:rPr>
              <a:t>Logs prompt, response, latency, agent name, and tool calls to ai_traces table.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Token Expenditure Tracking: </a:t>
            </a:r>
            <a:r>
              <a:rPr>
                <a:solidFill>
                  <a:srgbClr val="0F172A"/>
                </a:solidFill>
              </a:rPr>
              <a:t>Calculates input/output token usage per request and estimates USD cost.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Cost Prometheus Metric: </a:t>
            </a:r>
            <a:r>
              <a:rPr>
                <a:solidFill>
                  <a:srgbClr val="0F172A"/>
                </a:solidFill>
              </a:rPr>
              <a:t>Exports cumulative cost as npci_backend_cost_usd_total metric.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Grounded RAG Responses: </a:t>
            </a:r>
            <a:r>
              <a:rPr>
                <a:solidFill>
                  <a:srgbClr val="0F172A"/>
                </a:solidFill>
              </a:rPr>
              <a:t>Prevents AI hallucination by enforcing strict vector database grounding.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B57D0"/>
                </a:solidFill>
                <a:latin typeface="Segoe UI"/>
              </a:defRPr>
            </a:pPr>
            <a:r>
              <a:t>ENTERPRISE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Prometheus &amp; Grafana Operational Telemetry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5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B57D0"/>
                </a:solidFill>
                <a:latin typeface="Segoe UI"/>
              </a:defRPr>
            </a:pPr>
            <a:r>
              <a:t>Prometheus Exporters &amp; Metrics Engine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npci_backend_requests_total: </a:t>
            </a:r>
            <a:r>
              <a:rPr>
                <a:solidFill>
                  <a:srgbClr val="0F172A"/>
                </a:solidFill>
              </a:rPr>
              <a:t>Counter tracking cumulative API requests processed.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npci_backend_cost_usd_total: </a:t>
            </a:r>
            <a:r>
              <a:rPr>
                <a:solidFill>
                  <a:srgbClr val="0F172A"/>
                </a:solidFill>
              </a:rPr>
              <a:t>Counter tracking cumulative AI agent cost in USD.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npci_backend_traces_total: </a:t>
            </a:r>
            <a:r>
              <a:rPr>
                <a:solidFill>
                  <a:srgbClr val="0F172A"/>
                </a:solidFill>
              </a:rPr>
              <a:t>Gauge tracking active AI observability traces.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npci_users_total: </a:t>
            </a:r>
            <a:r>
              <a:rPr>
                <a:solidFill>
                  <a:srgbClr val="0F172A"/>
                </a:solidFill>
              </a:rPr>
              <a:t>Gauge tracking registered user count in database.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npci_k8s_pods_count: </a:t>
            </a:r>
            <a:r>
              <a:rPr>
                <a:solidFill>
                  <a:srgbClr val="0F172A"/>
                </a:solidFill>
              </a:rPr>
              <a:t>Gauge tracking active Docker containers and K8s pods.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Node Exporters (Port 9100): </a:t>
            </a:r>
            <a:r>
              <a:rPr>
                <a:solidFill>
                  <a:srgbClr val="0F172A"/>
                </a:solidFill>
              </a:rPr>
              <a:t>Scrapes CPU, RAM, Disk I/O, and Network stats on both EC2 nodes.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97316"/>
                </a:solidFill>
                <a:latin typeface="Segoe UI"/>
              </a:defRPr>
            </a:pPr>
            <a:r>
              <a:t>Pre-Configured Grafana Operational Dashboards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01_ec2_system_infrastructure: </a:t>
            </a:r>
            <a:r>
              <a:rPr>
                <a:solidFill>
                  <a:srgbClr val="0F172A"/>
                </a:solidFill>
              </a:rPr>
              <a:t>Real-time monitoring of CPU load, memory utilization, swap usage, and disk I/O.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02_frontend_api_performance: </a:t>
            </a:r>
            <a:r>
              <a:rPr>
                <a:solidFill>
                  <a:srgbClr val="0F172A"/>
                </a:solidFill>
              </a:rPr>
              <a:t>Tracks HTTP request rates, response times, 4xx/5xx error rates, and user traffic.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03_microservices_backend_health: </a:t>
            </a:r>
            <a:r>
              <a:rPr>
                <a:solidFill>
                  <a:srgbClr val="0F172A"/>
                </a:solidFill>
              </a:rPr>
              <a:t>Monitors FastAPI status, Postgres query rates, Qdrant vector latency, and MCP status.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npci_overview.json: </a:t>
            </a:r>
            <a:r>
              <a:rPr>
                <a:solidFill>
                  <a:srgbClr val="0F172A"/>
                </a:solidFill>
              </a:rPr>
              <a:t>Single-pane executive overview summarizing platform health, cost, and active metrics.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B57D0"/>
                </a:solidFill>
                <a:latin typeface="Segoe UI"/>
              </a:defRPr>
            </a:pPr>
            <a:r>
              <a:t>LIVE VIDEO SNAPSHOTS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Application Operations — Forum Channels &amp; Threads</a:t>
            </a:r>
          </a:p>
        </p:txBody>
      </p:sp>
      <p:pic>
        <p:nvPicPr>
          <p:cNvPr id="4" name="Picture 3" descr="frame_001_14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120640" cy="2720340"/>
          </a:xfrm>
          <a:prstGeom prst="rect">
            <a:avLst/>
          </a:prstGeom>
        </p:spPr>
      </p:pic>
      <p:pic>
        <p:nvPicPr>
          <p:cNvPr id="5" name="Picture 4" descr="frame_004_59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120640" cy="27203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3035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57D0"/>
                </a:solidFill>
                <a:latin typeface="Segoe UI"/>
              </a:defRPr>
            </a:pPr>
            <a:r>
              <a:t>Snapshot 1: NPCI Payment Communities (UPI 2.0, RuPay, Product Architecture &amp; Circulars)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3035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57D0"/>
                </a:solidFill>
                <a:latin typeface="Segoe UI"/>
              </a:defRPr>
            </a:pPr>
            <a:r>
              <a:t>Snapshot 2: Active Thread View — ₹5 Lakh Mandate API Discussion &amp; Accepted Solution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B57D0"/>
                </a:solidFill>
                <a:latin typeface="Segoe UI"/>
              </a:defRPr>
            </a:pPr>
            <a:r>
              <a:t>LIVE VIDEO SNAPSHOTS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Application Operations — Policy Manager &amp; Admin Console</a:t>
            </a:r>
          </a:p>
        </p:txBody>
      </p:sp>
      <p:pic>
        <p:nvPicPr>
          <p:cNvPr id="4" name="Picture 3" descr="frame_008_119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120640" cy="2720340"/>
          </a:xfrm>
          <a:prstGeom prst="rect">
            <a:avLst/>
          </a:prstGeom>
        </p:spPr>
      </p:pic>
      <p:pic>
        <p:nvPicPr>
          <p:cNvPr id="5" name="Picture 4" descr="frame_016_239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120640" cy="27203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3035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57D0"/>
                </a:solidFill>
                <a:latin typeface="Segoe UI"/>
              </a:defRPr>
            </a:pPr>
            <a:r>
              <a:t>Snapshot 3: Policy Governance Manager &amp; Integrated PDF Document Viewer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3035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57D0"/>
                </a:solidFill>
                <a:latin typeface="Segoe UI"/>
              </a:defRPr>
            </a:pPr>
            <a:r>
              <a:t>Snapshot 4: Admin Console displaying Audit Logs, Telemetry Traces, and AI Cost Metrics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B57D0"/>
                </a:solidFill>
                <a:latin typeface="Segoe UI"/>
              </a:defRPr>
            </a:pPr>
            <a:r>
              <a:t>PROJECT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Business Value Summary &amp; Strategic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Value Delivered to Payment Ecosystem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Zero-Drift Deployment: </a:t>
            </a:r>
            <a:r>
              <a:rPr>
                <a:solidFill>
                  <a:srgbClr val="0F172A"/>
                </a:solidFill>
              </a:rPr>
              <a:t>100% automated AWS dual-EC2 provisioning via Terraform IaC.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Single-Click CI/CD: </a:t>
            </a:r>
            <a:r>
              <a:rPr>
                <a:solidFill>
                  <a:srgbClr val="0F172A"/>
                </a:solidFill>
              </a:rPr>
              <a:t>Full environment build, push, deploy, and health verification in 10 GitHub Actions steps.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65% Cloud Cost Savings: </a:t>
            </a:r>
            <a:r>
              <a:rPr>
                <a:solidFill>
                  <a:srgbClr val="0F172A"/>
                </a:solidFill>
              </a:rPr>
              <a:t>Automated power management shutdown workflow during off-peak hours.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Sub-Second RAG Latency: </a:t>
            </a:r>
            <a:r>
              <a:rPr>
                <a:solidFill>
                  <a:srgbClr val="0F172A"/>
                </a:solidFill>
              </a:rPr>
              <a:t>Qdrant Vector DB delivering instant grounded compliance search.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Total Observability: </a:t>
            </a:r>
            <a:r>
              <a:rPr>
                <a:solidFill>
                  <a:srgbClr val="0F172A"/>
                </a:solidFill>
              </a:rPr>
              <a:t>Prometheus &amp; Grafana delivering 360-degree operational visibility.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5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B57D0"/>
                </a:solidFill>
                <a:latin typeface="Segoe UI"/>
              </a:defRPr>
            </a:pPr>
            <a:r>
              <a:t>Future Development Roadmap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Multi-Region AWS HA: </a:t>
            </a:r>
            <a:r>
              <a:rPr>
                <a:solidFill>
                  <a:srgbClr val="0F172A"/>
                </a:solidFill>
              </a:rPr>
              <a:t>Expanding active-active database replication across ap-south-1 &amp; ap-south-2.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Enhanced MCP Tooling: </a:t>
            </a:r>
            <a:r>
              <a:rPr>
                <a:solidFill>
                  <a:srgbClr val="0F172A"/>
                </a:solidFill>
              </a:rPr>
              <a:t>Integrating automated API sandbox testing for bank integration endpoints.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OAuth 2.0 mTLS Integration: </a:t>
            </a:r>
            <a:r>
              <a:rPr>
                <a:solidFill>
                  <a:srgbClr val="0F172A"/>
                </a:solidFill>
              </a:rPr>
              <a:t>Enforcing mutual TLS certificates across all member bank API calls.</a:t>
            </a:r>
          </a:p>
          <a:p>
            <a:pPr>
              <a:spcAft>
                <a:spcPts val="400"/>
              </a:spcAft>
              <a:defRPr sz="10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Advanced Analytics: </a:t>
            </a:r>
            <a:r>
              <a:rPr>
                <a:solidFill>
                  <a:srgbClr val="0F172A"/>
                </a:solidFill>
              </a:rPr>
              <a:t>Machine learning predictive models for UPI transaction velocity breach detection.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